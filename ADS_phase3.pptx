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1" r:id="rId6"/>
    <p:sldId id="273" r:id="rId7"/>
    <p:sldId id="288" r:id="rId8"/>
    <p:sldId id="277" r:id="rId9"/>
    <p:sldId id="272" r:id="rId10"/>
    <p:sldId id="282" r:id="rId11"/>
    <p:sldId id="274" r:id="rId12"/>
    <p:sldId id="285" r:id="rId13"/>
    <p:sldId id="286" r:id="rId14"/>
    <p:sldId id="287" r:id="rId15"/>
    <p:sldId id="28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41" autoAdjust="0"/>
  </p:normalViewPr>
  <p:slideViewPr>
    <p:cSldViewPr snapToGrid="0">
      <p:cViewPr>
        <p:scale>
          <a:sx n="66" d="100"/>
          <a:sy n="66" d="100"/>
        </p:scale>
        <p:origin x="-900" y="-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05338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pPr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chakradharmattapalli/product-demand-prediction-with-machine-learn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=""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325" y="773723"/>
            <a:ext cx="8825658" cy="3193366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6350" stA="50000" endA="300" endPos="55000" dir="5400000" sy="-100000" algn="bl" rotWithShape="0"/>
          </a:effectLst>
        </p:spPr>
        <p:txBody>
          <a:bodyPr>
            <a:normAutofit fontScale="90000"/>
          </a:bodyPr>
          <a:lstStyle/>
          <a:p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DEMAND PREDICTION WITH MACHINE LEARNING</a:t>
            </a:r>
            <a:endParaRPr lang="ru-RU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318E9D62-7BA3-4D5E-8915-0D0E8661E3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C60E0D-C4AF-09AA-CB4F-140132B7C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7F88855-B676-8B83-A3A7-06E8AFA41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historical sales data , which typically  includes information such as date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 ID, quantity sold, price, and other relevant features. 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also need external factors like economic indicators, seasonality, and marketing efforts data.</a:t>
            </a:r>
          </a:p>
          <a:p>
            <a:pPr algn="just"/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26294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BA04FD-BAED-332D-3643-0295E84EA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5BD3C9-796C-CB1E-849C-4EAA781E3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Loading Data</a:t>
            </a:r>
            <a:r>
              <a:rPr lang="en-US" sz="2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2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			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your historical sales data and external factors data into data structures like Pandas </a:t>
            </a:r>
            <a:r>
              <a:rPr lang="en-US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Python.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</a:t>
            </a:r>
            <a:r>
              <a:rPr lang="en-US" sz="2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2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 or join the historical sales data and external factors data, aligning them by the date or another common key.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  <a:r>
              <a:rPr lang="en-US" sz="2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en-US" sz="2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for missing values in both datasets. You can impute missing values using methods like mean, median, or interpolation, or drop rows with missing data if appropriate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5498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540" y="989748"/>
            <a:ext cx="9600975" cy="868082"/>
          </a:xfrm>
        </p:spPr>
        <p:txBody>
          <a:bodyPr/>
          <a:lstStyle/>
          <a:p>
            <a:r>
              <a:rPr lang="en-IN" b="1" i="1" u="sng" dirty="0" smtClean="0">
                <a:latin typeface="Times New Roman" pitchFamily="18" charset="0"/>
                <a:cs typeface="Times New Roman" pitchFamily="18" charset="0"/>
              </a:rPr>
              <a:t>DATASET</a:t>
            </a:r>
            <a:endParaRPr lang="en-US" b="1" i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826" y="2662519"/>
            <a:ext cx="9027659" cy="1503082"/>
          </a:xfrm>
        </p:spPr>
        <p:txBody>
          <a:bodyPr/>
          <a:lstStyle/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Dataset Link: 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https://www.kaggle.com/datasets/chakradharmattapalli/product-demand-prediction-with-machine-learning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  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6EEE610-CE71-31F3-2ABB-33E088030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18671"/>
            <a:ext cx="8825659" cy="439057"/>
          </a:xfrm>
        </p:spPr>
        <p:txBody>
          <a:bodyPr/>
          <a:lstStyle/>
          <a:p>
            <a:pPr algn="ctr"/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DATASET </a:t>
            </a:r>
            <a:endParaRPr lang="en-IN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DE50472-0AB9-608D-531C-5EEB78508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7183" y="1680028"/>
            <a:ext cx="9484017" cy="4553857"/>
          </a:xfrm>
        </p:spPr>
        <p:txBody>
          <a:bodyPr>
            <a:noAutofit/>
          </a:bodyPr>
          <a:lstStyle/>
          <a:p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CODING:</a:t>
            </a:r>
          </a:p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import pandas as pd</a:t>
            </a:r>
          </a:p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import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import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plotly.express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import seaborn as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	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mport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sklearn.tree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DecisionTreeRegressor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 =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(“productdemand.csv")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data.head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="" xmlns:p14="http://schemas.microsoft.com/office/powerpoint/2010/main" val="194258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9223C2F-0066-CE1B-D6ED-594EB8AA9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486" y="4689606"/>
            <a:ext cx="5791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12437081-2FF8-B68D-E3AB-1EBA033F5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107015334"/>
              </p:ext>
            </p:extLst>
          </p:nvPr>
        </p:nvGraphicFramePr>
        <p:xfrm>
          <a:off x="2612571" y="994155"/>
          <a:ext cx="6807201" cy="54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440">
                  <a:extLst>
                    <a:ext uri="{9D8B030D-6E8A-4147-A177-3AD203B41FA5}">
                      <a16:colId xmlns="" xmlns:a16="http://schemas.microsoft.com/office/drawing/2014/main" val="3075866311"/>
                    </a:ext>
                  </a:extLst>
                </a:gridCol>
                <a:gridCol w="1351768">
                  <a:extLst>
                    <a:ext uri="{9D8B030D-6E8A-4147-A177-3AD203B41FA5}">
                      <a16:colId xmlns="" xmlns:a16="http://schemas.microsoft.com/office/drawing/2014/main" val="15140689"/>
                    </a:ext>
                  </a:extLst>
                </a:gridCol>
                <a:gridCol w="1371113">
                  <a:extLst>
                    <a:ext uri="{9D8B030D-6E8A-4147-A177-3AD203B41FA5}">
                      <a16:colId xmlns="" xmlns:a16="http://schemas.microsoft.com/office/drawing/2014/main" val="6499761"/>
                    </a:ext>
                  </a:extLst>
                </a:gridCol>
                <a:gridCol w="1361440">
                  <a:extLst>
                    <a:ext uri="{9D8B030D-6E8A-4147-A177-3AD203B41FA5}">
                      <a16:colId xmlns="" xmlns:a16="http://schemas.microsoft.com/office/drawing/2014/main" val="864188144"/>
                    </a:ext>
                  </a:extLst>
                </a:gridCol>
                <a:gridCol w="1361440">
                  <a:extLst>
                    <a:ext uri="{9D8B030D-6E8A-4147-A177-3AD203B41FA5}">
                      <a16:colId xmlns="" xmlns:a16="http://schemas.microsoft.com/office/drawing/2014/main" val="3384481339"/>
                    </a:ext>
                  </a:extLst>
                </a:gridCol>
              </a:tblGrid>
              <a:tr h="899904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PRICE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 PRICE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UNIT</a:t>
                      </a:r>
                    </a:p>
                    <a:p>
                      <a:r>
                        <a:rPr lang="en-US" dirty="0"/>
                        <a:t>SOLD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07322418"/>
                  </a:ext>
                </a:extLst>
              </a:tr>
              <a:tr h="89990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8091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99.0375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111.8625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57248471"/>
                  </a:ext>
                </a:extLst>
              </a:tr>
              <a:tr h="908516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8091</a:t>
                      </a:r>
                      <a:endParaRPr lang="en-IN" dirty="0"/>
                    </a:p>
                    <a:p>
                      <a:endParaRPr lang="en-IN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99.0375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99.0375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45571299"/>
                  </a:ext>
                </a:extLst>
              </a:tr>
              <a:tr h="899904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8091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133.9500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133.95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76913763"/>
                  </a:ext>
                </a:extLst>
              </a:tr>
              <a:tr h="908516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8091</a:t>
                      </a:r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133.9500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133.95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47588431"/>
                  </a:ext>
                </a:extLst>
              </a:tr>
              <a:tr h="899904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8091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141.0750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141.075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4610497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241444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4800" b="1" i="1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OUTPUT</a:t>
            </a:r>
            <a:endParaRPr lang="en-US" sz="4800" b="1" i="1" u="sng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3075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EC85AC-3A09-617E-1742-F2D549F87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81746"/>
            <a:ext cx="9404723" cy="1400530"/>
          </a:xfrm>
        </p:spPr>
        <p:txBody>
          <a:bodyPr/>
          <a:lstStyle/>
          <a:p>
            <a:pPr algn="ctr"/>
            <a:r>
              <a:rPr lang="en-I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PRICE AND DEMAND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BE3AB6-F2FE-2469-355C-EA7C5AE1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=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px.scatter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(data, x="Units Sold", y="Total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Price",size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='Units Sold')</a:t>
            </a:r>
            <a:b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fig.show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relationship between price and demand">
            <a:extLst>
              <a:ext uri="{FF2B5EF4-FFF2-40B4-BE49-F238E27FC236}">
                <a16:creationId xmlns="" xmlns:a16="http://schemas.microsoft.com/office/drawing/2014/main" id="{8700EC10-65BF-A4FD-0581-C0D6D0B72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435" y="3038149"/>
            <a:ext cx="5424907" cy="282830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A7B2F1-2B25-6A16-C4F2-593FD345D58D}"/>
              </a:ext>
            </a:extLst>
          </p:cNvPr>
          <p:cNvSpPr/>
          <p:nvPr/>
        </p:nvSpPr>
        <p:spPr>
          <a:xfrm>
            <a:off x="4092387" y="6005172"/>
            <a:ext cx="334300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Fig: Scatter </a:t>
            </a:r>
            <a:r>
              <a:rPr lang="en-US" sz="2000" b="1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lang="en-US" sz="20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lot</a:t>
            </a:r>
          </a:p>
        </p:txBody>
      </p:sp>
    </p:spTree>
    <p:extLst>
      <p:ext uri="{BB962C8B-B14F-4D97-AF65-F5344CB8AC3E}">
        <p14:creationId xmlns="" xmlns:p14="http://schemas.microsoft.com/office/powerpoint/2010/main" val="809355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9A2780-82B8-6823-9F30-324F4F03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0996"/>
          </a:xfrm>
        </p:spPr>
        <p:txBody>
          <a:bodyPr/>
          <a:lstStyle/>
          <a:p>
            <a:pPr algn="ctr"/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 DATA  ANALYSIS</a:t>
            </a:r>
            <a:endParaRPr lang="en-IN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C8B2EB-384A-1229-8FA8-161F6C6C3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78858"/>
            <a:ext cx="8946541" cy="486954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data to identify  pattern, trends and correlations.</a:t>
            </a:r>
          </a:p>
          <a:p>
            <a:pPr algn="just"/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can help you make informed decision about feature selection and model choice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IN" sz="2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CODING:</a:t>
            </a:r>
          </a:p>
          <a:p>
            <a:pPr marL="0" indent="0" algn="just">
              <a:buNone/>
            </a:pP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missing_values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data.isnull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</a:p>
          <a:p>
            <a:pPr marL="0" indent="0" algn="just">
              <a:buNone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 Summary statistics</a:t>
            </a:r>
          </a:p>
          <a:p>
            <a:pPr marL="0" indent="0" algn="just">
              <a:buNone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summary_stats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data.describe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 Data visualization (e.g., histograms, scatter plots)</a:t>
            </a:r>
          </a:p>
          <a:p>
            <a:pPr marL="0" indent="0" algn="just">
              <a:buNone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import </a:t>
            </a:r>
            <a:r>
              <a:rPr lang="en-I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import seaborn as </a:t>
            </a:r>
            <a:r>
              <a:rPr lang="en-I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IN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 perform EDA here</a:t>
            </a:r>
          </a:p>
          <a:p>
            <a:pPr algn="just"/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2436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C3E939-0C88-FD92-8742-B058210D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52D3AD5-0343-2CBF-5354-8882F3CC8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CODING:</a:t>
            </a:r>
          </a:p>
          <a:p>
            <a:pPr marL="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print(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data.corr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correlations =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data.corr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(method='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pearson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</a:t>
            </a:r>
          </a:p>
          <a:p>
            <a:pPr marL="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=(15, 12))</a:t>
            </a:r>
          </a:p>
          <a:p>
            <a:pPr marL="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(correlations,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coolwarm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annot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 marL="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="" xmlns:p14="http://schemas.microsoft.com/office/powerpoint/2010/main" val="2128580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7668CC-36F2-9236-7E4C-22BB7032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CORRELATION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21AE5907-972B-83B7-E17E-23AF6B727C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312" y="4019853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F9C240B6-EF02-C5D6-D4A6-DCF19A7A2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69615853"/>
              </p:ext>
            </p:extLst>
          </p:nvPr>
        </p:nvGraphicFramePr>
        <p:xfrm>
          <a:off x="2031999" y="2383720"/>
          <a:ext cx="8128002" cy="3795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="" xmlns:a16="http://schemas.microsoft.com/office/drawing/2014/main" val="3767202598"/>
                    </a:ext>
                  </a:extLst>
                </a:gridCol>
                <a:gridCol w="1354667">
                  <a:extLst>
                    <a:ext uri="{9D8B030D-6E8A-4147-A177-3AD203B41FA5}">
                      <a16:colId xmlns="" xmlns:a16="http://schemas.microsoft.com/office/drawing/2014/main" val="2074445508"/>
                    </a:ext>
                  </a:extLst>
                </a:gridCol>
                <a:gridCol w="1398209">
                  <a:extLst>
                    <a:ext uri="{9D8B030D-6E8A-4147-A177-3AD203B41FA5}">
                      <a16:colId xmlns="" xmlns:a16="http://schemas.microsoft.com/office/drawing/2014/main" val="3845903425"/>
                    </a:ext>
                  </a:extLst>
                </a:gridCol>
                <a:gridCol w="1311125">
                  <a:extLst>
                    <a:ext uri="{9D8B030D-6E8A-4147-A177-3AD203B41FA5}">
                      <a16:colId xmlns="" xmlns:a16="http://schemas.microsoft.com/office/drawing/2014/main" val="1556391388"/>
                    </a:ext>
                  </a:extLst>
                </a:gridCol>
                <a:gridCol w="1354667">
                  <a:extLst>
                    <a:ext uri="{9D8B030D-6E8A-4147-A177-3AD203B41FA5}">
                      <a16:colId xmlns="" xmlns:a16="http://schemas.microsoft.com/office/drawing/2014/main" val="123717261"/>
                    </a:ext>
                  </a:extLst>
                </a:gridCol>
                <a:gridCol w="1354667">
                  <a:extLst>
                    <a:ext uri="{9D8B030D-6E8A-4147-A177-3AD203B41FA5}">
                      <a16:colId xmlns="" xmlns:a16="http://schemas.microsoft.com/office/drawing/2014/main" val="479344608"/>
                    </a:ext>
                  </a:extLst>
                </a:gridCol>
              </a:tblGrid>
              <a:tr h="59508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</a:t>
                      </a:r>
                    </a:p>
                    <a:p>
                      <a:r>
                        <a:rPr lang="en-IN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BASE</a:t>
                      </a:r>
                    </a:p>
                    <a:p>
                      <a:r>
                        <a:rPr lang="en-IN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UNITS</a:t>
                      </a:r>
                    </a:p>
                    <a:p>
                      <a:r>
                        <a:rPr lang="en-IN" dirty="0"/>
                        <a:t>SOLD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2895433"/>
                  </a:ext>
                </a:extLst>
              </a:tr>
              <a:tr h="595086">
                <a:tc>
                  <a:txBody>
                    <a:bodyPr/>
                    <a:lstStyle/>
                    <a:p>
                      <a:r>
                        <a:rPr lang="en-IN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0.007464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0.008473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0.018932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-0.010616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65077984"/>
                  </a:ext>
                </a:extLst>
              </a:tr>
              <a:tr h="595086">
                <a:tc>
                  <a:txBody>
                    <a:bodyPr/>
                    <a:lstStyle/>
                    <a:p>
                      <a:r>
                        <a:rPr lang="en-IN" dirty="0"/>
                        <a:t>STORE </a:t>
                      </a:r>
                    </a:p>
                    <a:p>
                      <a:r>
                        <a:rPr lang="en-IN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0.007464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-0.038315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-0.038848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-0.007432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13098386"/>
                  </a:ext>
                </a:extLst>
              </a:tr>
              <a:tr h="595086">
                <a:tc>
                  <a:txBody>
                    <a:bodyPr/>
                    <a:lstStyle/>
                    <a:p>
                      <a:r>
                        <a:rPr lang="en-IN" dirty="0"/>
                        <a:t>TOTAL</a:t>
                      </a:r>
                    </a:p>
                    <a:p>
                      <a:r>
                        <a:rPr lang="en-IN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0.008473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-0.038315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0.958885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-0.235625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49650855"/>
                  </a:ext>
                </a:extLst>
              </a:tr>
              <a:tr h="595086">
                <a:tc>
                  <a:txBody>
                    <a:bodyPr/>
                    <a:lstStyle/>
                    <a:p>
                      <a:r>
                        <a:rPr lang="en-IN" dirty="0"/>
                        <a:t>BASE</a:t>
                      </a:r>
                    </a:p>
                    <a:p>
                      <a:r>
                        <a:rPr lang="en-IN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0.018932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-0.038848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0.958885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-0.140032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80262041"/>
                  </a:ext>
                </a:extLst>
              </a:tr>
              <a:tr h="595086">
                <a:tc>
                  <a:txBody>
                    <a:bodyPr/>
                    <a:lstStyle/>
                    <a:p>
                      <a:r>
                        <a:rPr lang="en-IN" dirty="0"/>
                        <a:t>UNITS</a:t>
                      </a:r>
                    </a:p>
                    <a:p>
                      <a:r>
                        <a:rPr lang="en-IN" dirty="0"/>
                        <a:t>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-0.010616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-0.004372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-0.235625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-0.140032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77937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688275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318F6F-2B0D-7BD9-4E57-07D4AC19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798286"/>
            <a:ext cx="9404723" cy="1146628"/>
          </a:xfrm>
        </p:spPr>
        <p:txBody>
          <a:bodyPr/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Correlations=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data.corr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(method=‘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pearson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</a:t>
            </a:r>
            <a:b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=(15,12))</a:t>
            </a:r>
            <a:b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correlations,cmap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coolwarm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annot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b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4" name="AutoShape 2" descr="Product Demand Prediction: correlation">
            <a:extLst>
              <a:ext uri="{FF2B5EF4-FFF2-40B4-BE49-F238E27FC236}">
                <a16:creationId xmlns="" xmlns:a16="http://schemas.microsoft.com/office/drawing/2014/main" id="{A853DFF6-BB6F-1045-CF31-D3B1E1FDD3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174" name="Picture 6" descr="Product Demand Prediction: correlation">
            <a:extLst>
              <a:ext uri="{FF2B5EF4-FFF2-40B4-BE49-F238E27FC236}">
                <a16:creationId xmlns="" xmlns:a16="http://schemas.microsoft.com/office/drawing/2014/main" id="{1ACF8F57-1C91-BB8D-6D45-0F3735FB59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343" y="2246083"/>
            <a:ext cx="6408113" cy="343262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507A14B-E3C9-0C49-093C-303CFB8E9187}"/>
              </a:ext>
            </a:extLst>
          </p:cNvPr>
          <p:cNvSpPr txBox="1"/>
          <p:nvPr/>
        </p:nvSpPr>
        <p:spPr>
          <a:xfrm>
            <a:off x="2725028" y="587504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Fig: Heatmap</a:t>
            </a:r>
          </a:p>
        </p:txBody>
      </p:sp>
    </p:spTree>
    <p:extLst>
      <p:ext uri="{BB962C8B-B14F-4D97-AF65-F5344CB8AC3E}">
        <p14:creationId xmlns="" xmlns:p14="http://schemas.microsoft.com/office/powerpoint/2010/main" val="509820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b="1" i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i="1" dirty="0" smtClean="0">
                <a:latin typeface="Times New Roman" pitchFamily="18" charset="0"/>
                <a:cs typeface="Times New Roman" pitchFamily="18" charset="0"/>
              </a:rPr>
              <a:t>Product  demand prediction with  machine learning were classified and  various processing were done using the given dataset.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212</TotalTime>
  <Words>251</Words>
  <Application>Microsoft Office PowerPoint</Application>
  <PresentationFormat>Custom</PresentationFormat>
  <Paragraphs>126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Ion</vt:lpstr>
      <vt:lpstr>PRODUCT DEMAND PREDICTION WITH MACHINE LEARNING</vt:lpstr>
      <vt:lpstr>DATA COLLECTION</vt:lpstr>
      <vt:lpstr>DATA PREPROCESSING</vt:lpstr>
      <vt:lpstr>DATASET</vt:lpstr>
      <vt:lpstr>PREPROCESSED DATASET </vt:lpstr>
      <vt:lpstr>Slide 6</vt:lpstr>
      <vt:lpstr>ANALYZE THE PRICE AND DEMAND PRODUCT</vt:lpstr>
      <vt:lpstr>EXPLORATORY  DATA  ANALYSIS</vt:lpstr>
      <vt:lpstr>ANALYZE THE CORRELATION</vt:lpstr>
      <vt:lpstr>OUTPUT OF THE CORRELATION</vt:lpstr>
      <vt:lpstr>Correlations=data.corr(method=‘pearson’) plt.figure(figsize=(15,12)) sns.heatmap(correlations,cmap=“coolwarm”,annot=true) plt.show()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DEMAND PREDICTION WITH MACHINE LEARNING</dc:title>
  <dc:creator>SamuAmmu</dc:creator>
  <cp:lastModifiedBy>SamuAmmu</cp:lastModifiedBy>
  <cp:revision>33</cp:revision>
  <dcterms:created xsi:type="dcterms:W3CDTF">2023-10-17T13:52:17Z</dcterms:created>
  <dcterms:modified xsi:type="dcterms:W3CDTF">2023-10-18T14:21:28Z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